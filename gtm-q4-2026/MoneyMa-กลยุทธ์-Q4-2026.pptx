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61A"/>
                </a:solidFill>
                <a:latin typeface="Tahoma"/>
              </a:defRPr>
            </a:pPr>
            <a:r>
              <a:rPr sz="1300" b="0" i="0" u="none" strike="noStrike">
                <a:solidFill>
                  <a:srgbClr val="10261A"/>
                </a:solidFill>
                <a:latin typeface="Tahoma"/>
              </a:rPr>
              <a:t>รายได้สุทธิต่อการสมัคร 1 ครั้ง (บาท)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ผ่าน Google Play (หัก 15%)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61A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 เดือน</c:v>
                  </c:pt>
                  <c:pt idx="1">
                    <c:v>12 เดือน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67.15</c:v>
                </c:pt>
                <c:pt idx="1">
                  <c:v>606.05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ผ่านเว็บ Stripe</c:v>
                </c:pt>
              </c:strCache>
            </c:strRef>
          </c:tx>
          <c:spPr>
            <a:solidFill>
              <a:srgbClr val="7FB0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61A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 เดือน</c:v>
                  </c:pt>
                  <c:pt idx="1">
                    <c:v>12 เดือน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65.12</c:v>
                </c:pt>
                <c:pt idx="1">
                  <c:v>675.98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61A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60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60"/>
          <c:min val="0"/>
        </c:scaling>
        <c:delete val="0"/>
        <c:axPos val="l"/>
        <c:majorGridlines>
          <c:spPr>
            <a:ln w="9525" cap="flat">
              <a:solidFill>
                <a:srgbClr val="E8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60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C6660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61A"/>
                </a:solidFill>
                <a:latin typeface="Tahoma"/>
              </a:defRPr>
            </a:pPr>
            <a:r>
              <a:rPr sz="1300" b="0" i="0" u="none" strike="noStrike">
                <a:solidFill>
                  <a:srgbClr val="10261A"/>
                </a:solidFill>
                <a:latin typeface="Tahoma"/>
              </a:rPr>
              <a:t>ผู้จ่ายเงินที่คาดได้ในไตรมาส 4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ผู้จ่ายเงิน (คน)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61A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แย่
1,200 ติดตั้ง</c:v>
                  </c:pt>
                  <c:pt idx="1">
                    <c:v>ฐาน
3,500 ติดตั้ง</c:v>
                  </c:pt>
                  <c:pt idx="2">
                    <c:v>ดี
12,000 ติดตั้ง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61A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660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0"/>
        </c:scaling>
        <c:delete val="0"/>
        <c:axPos val="l"/>
        <c:majorGridlines>
          <c:spPr>
            <a:ln w="9525" cap="flat">
              <a:solidFill>
                <a:srgbClr val="E8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60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เอกสารประกอบ: 01 กลยุทธ์ · 02 สเปกงานเทคนิค · 03 ก๊อปปี้การตลาด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สามข้อนี้บล็อกทุกอย่างในเอกสาร ต้องปิดให้จบก่อนกลางกันยายน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ทุกคอนเทนต์ต้องเริ่มจากสลิป ไม่ใช่จากแดชบอร์ด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แม่ค้าออนไลน์รวมตัวอยู่ในกลุ่ม Facebook ที่เข้าถึงได้ฟรี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ถ้าแก้ได้ข้อเดียว ให้เลือกลดสแกนฟรีเหลือ 20/เดือน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ราคาปัจจุบันในโค้ดคือ 99/990 — ถ้าไม่แก้ 990 เป็น 1,188 ราคาโปรจะดูถูกผิดปกติ และปีที่ 2 เด้ง +67%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อัตรา 15% มาจากโปรแกรม first $1M ซึ่งครอบคลุมทั้ง subscription และ one-time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ถ้ามีเวลาเขียนโค้ดเพิ่มได้แค่อย่างเดียว ให้เลือกระบบแนะนำเพื่อน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ถ้าระยะ 0 ไม่จบภายใน 15 ก.ย. ให้ใช้แผนสำรอง เลื่อนโปรเป็น 1 พ.ย. – 31 ม.ค.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พอรู้ตัวเลขกรวยจริง ถึงจะคำนวณได้ว่ายอมจ่ายค่า install เท่าไรใน Q1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A มีเส้นตายจริง — ทำได้เฉพาะก่อนมีสมาชิกคนแรก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6583680" cy="6583680"/>
          </a:xfrm>
          <a:prstGeom prst="ellipse">
            <a:avLst/>
          </a:prstGeom>
          <a:solidFill>
            <a:srgbClr val="1C4630"/>
          </a:solidFill>
          <a:ln w="12700">
            <a:solidFill>
              <a:srgbClr val="1C46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566160"/>
            <a:ext cx="3840480" cy="3840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MoneyMa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กลยุทธ์โปรดักและการขาย ไตรมาส 4 /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6D2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ปลดล็อกการขาย · วางโครงสร้างราคาใหม่ · โปรโมชัน ลด 20% เดือนแรก และ 40% รายปี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6D2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เติบโตด้วยช่องทาง organic งบประมาณ 0 บาท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7FB0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9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สิงหาคม 2026  ·  ตลาดหลัก: ไทย  ·  ทดสอบ: สิงคโปร์ + เวียดนาม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สถานการณ์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ของพร้อมแล้ว แต่ยังขายไม่ได้สักบาท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v2.1.1 อยู่บน Open testing 172 ประเทศตั้งแต่ 1 ส.ค. — ยังไม่ขึ้น production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47288" cy="2286000"/>
          </a:xfrm>
          <a:prstGeom prst="roundRect">
            <a:avLst>
              <a:gd name="adj" fmla="val 3600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12848"/>
            <a:ext cx="475488" cy="475488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7980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แอปยังไม่ขึ้น production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ไม่มีฟังก์ชันลบบัญชีในแอป ซึ่ง Google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บังคับสำหรับแอปที่มีสมาชิก ต้องออก vc17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47288" cy="2286000"/>
          </a:xfrm>
          <a:prstGeom prst="roundRect">
            <a:avLst>
              <a:gd name="adj" fmla="val 3600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212848"/>
            <a:ext cx="475488" cy="475488"/>
          </a:xfrm>
          <a:prstGeom prst="ellipse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7980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ระบบจ่ายเงินยังไม่ทำงาน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RevenueCat ยังใช้คีย์ placeholder และ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NATIVE_BILLING_READY ยังเป็น false ใน 5 ไฟล์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447288" cy="2286000"/>
          </a:xfrm>
          <a:prstGeom prst="roundRect">
            <a:avLst>
              <a:gd name="adj" fmla="val 3600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212848"/>
            <a:ext cx="475488" cy="475488"/>
          </a:xfrm>
          <a:prstGeom prst="ellipse">
            <a:avLst/>
          </a:prstGeom>
          <a:solidFill>
            <a:srgbClr val="5A3F8F"/>
          </a:solidFill>
          <a:ln w="12700">
            <a:solidFill>
              <a:srgbClr val="5A3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27980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tier กั้นผิดจุด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9328" y="3291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แจกสแกน AI ฟรี 300 ครั้ง/เดือน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แต่จำกัดการบันทึกที่ 50 รายการ/เดือน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0261A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773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B0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เหลือเวลา 6 สัปดาห์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80560" y="4791456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ED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vc17 ไม่ขึ้น production ภายใน 15 ก.ย. จะไม่มีโปรโมชันไตรมาส 4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6DED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แผนสำรอง: เลื่อนโปรเป็น 1 พ.ย. – 31 ม.ค. ซึ่งคาบช่วงปีใหม่ที่คนไทยค้นหาแอปการเงินสูงสุดของปี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เลิกแข่งในสนามที่แพ้อยู่แล้ว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481328"/>
          </a:xfrm>
          <a:prstGeom prst="roundRect">
            <a:avLst>
              <a:gd name="adj" fmla="val 5556"/>
            </a:avLst>
          </a:prstGeom>
          <a:solidFill>
            <a:srgbClr val="3A1F1C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9A8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สนามที่ห้ามลง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9C4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"แอปบันทึกรายรับรายจ่าย" — มีของฟรีเต็มตลาด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9C4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Money Manager · Piggipo · MoneyNote · Weple · Household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91072" y="1600200"/>
            <a:ext cx="5257800" cy="1481328"/>
          </a:xfrm>
          <a:prstGeom prst="roundRect">
            <a:avLst>
              <a:gd name="adj" fmla="val 5556"/>
            </a:avLst>
          </a:prstGeom>
          <a:solidFill>
            <a:srgbClr val="1C4630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สนามที่ชนะได้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214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D9C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"สลิปโอนเงิน = รายการในบัญชีทันที"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D9C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คู่แข่งไทยแทบไม่มีใครอ่านสลิปไทยได้ดี ตัวที่มีก็กั้นไว้ใน premium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6557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โอนเสร็จ  ถ่ายสลิป  จบ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4050792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BD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MoneyMa อ่านยอดกับวันที่ให้เอง — ไม่ต้องพิมพ์ ไม่ต้องผูกบัญชีธนาคาร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28032"/>
            <a:ext cx="2514600" cy="0"/>
          </a:xfrm>
          <a:prstGeom prst="line">
            <a:avLst/>
          </a:prstGeom>
          <a:noFill/>
          <a:ln w="25400">
            <a:solidFill>
              <a:srgbClr val="7FB0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56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สแกนสลิปไทย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303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จุดต่างจริงเพียงหนึ่งเดียว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ใช้เป็นหัวหอกในทุกคอนเทนต์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38144" y="4828032"/>
            <a:ext cx="2514600" cy="0"/>
          </a:xfrm>
          <a:prstGeom prst="line">
            <a:avLst/>
          </a:prstGeom>
          <a:noFill/>
          <a:ln w="25400">
            <a:solidFill>
              <a:srgbClr val="7FB0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4956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ไม่ผูกบัญชีธนาคาร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38144" y="5303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ในตลาดที่คนกลัวแอปดูดเงิน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นี่คือจุดขาย ไม่ใช่ข้อจำกัด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4828032"/>
            <a:ext cx="2514600" cy="0"/>
          </a:xfrm>
          <a:prstGeom prst="line">
            <a:avLst/>
          </a:prstGeom>
          <a:noFill/>
          <a:ln w="25400">
            <a:solidFill>
              <a:srgbClr val="7FB0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4956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มือถือ + คอมพิวเตอร์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36208" y="5303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คู่แข่งเกือบทั้งหมดเป็น mobile-only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คนทำบัญชีร้านอยากได้จอใหญ่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34272" y="4828032"/>
            <a:ext cx="2514600" cy="0"/>
          </a:xfrm>
          <a:prstGeom prst="line">
            <a:avLst/>
          </a:prstGeom>
          <a:noFill/>
          <a:ln w="25400">
            <a:solidFill>
              <a:srgbClr val="7FB0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4956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ส่งออก Excel / PDF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34272" y="5303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ของจำเป็นสำหรับแม่ค้าและ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ฟรีแลนซ์ที่ต้องส่งนักบัญชี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เจาะกลุ่มที่ปิดการขายง่ายที่สุดก่อน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ไตรมาส 4 ทุ่มไปที่กลุ่มเดียว — แม่ค้าออนไลน์และฟรีแลนซ์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EDF3EE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57984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121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แม่ค้าออนไลน์ / ฟรีแลนซ์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เป้าหมายหลัก Q4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213969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รับโอนวันละหลายสิบครั้ง ต้องสรุปยอด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และเก็บหลักฐานตอนยื่นภาษี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การส่งออกไฟล์คือของจำเป็น ไม่ใช่ของหรู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0684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คอนเทนต์: "สรุปยอดขายทั้งเดือน ใน 3 นาที"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639312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1C4630"/>
          </a:solidFill>
          <a:ln w="12700">
            <a:solidFill>
              <a:srgbClr val="1C46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มนุษย์เงินเดือนเริ่มคุมเงิน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6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ตลาดใหญ่สุด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62102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อยากรู้ว่าเงินหายไปไหน แต่ขี้เกียจพิมพ์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เคยลองจดแล้วเลิกภายใน 3 วัน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06840" y="3858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C46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คอนเทนต์: "เงินเดือนหมดก่อนสิ้นเดือน"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82896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512064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5C6660"/>
          </a:solidFill>
          <a:ln w="12700">
            <a:solidFill>
              <a:srgbClr val="5C66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5084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คู่รัก / ครอบครัวแชร์ค่าใช้จ่าย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07008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 Q1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510235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ต้องการซิงก์ข้ามเครื่องและพื้นที่ร่วม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ยังไม่มีฟีเจอร์ shared workspace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06840" y="53400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ยังไม่ทำในไตรมาสนี้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โมเดลรายได้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ย้ายกำแพงไปอยู่ตรงที่ผู้ใช้มีของจะเสีย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กำแพงต้องมาตอนสะสมคุณค่าไว้แล้ว ไม่ใช่ตอนยังไม่ได้อะไรเลย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214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ปัจจุบัน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บันทึกรายการ 50 / เดือน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 1 หมวด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 AI 300 / เดือน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ดูย้อนหลังไม่จำกัด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822192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FBEEEC"/>
          </a:solidFill>
          <a:ln w="12700">
            <a:solidFill>
              <a:srgbClr val="F0D5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913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34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ชนเพดาน 50 รายการวันที่ 12 ตอนที่ยังไม่ทันเห็นคุณค่า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C34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แล้วแจกจุดขายเดียวที่มีให้ฟรีถาวร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92024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EDF3EE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21214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เสนอใหม่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11112" y="2542032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บันทึกรายการ ไม่จำกัด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 3 หมวด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 AI 20 / เดือน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ดูย้อนหลัง 90 วัน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65392" y="3822192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DCEBDF"/>
          </a:solidFill>
          <a:ln w="12700">
            <a:solidFill>
              <a:srgbClr val="BFD9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3913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4E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ไม่กั้นการสร้างนิสัย · กั้นตรงที่แปลงเป็นเงินได้จริง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4E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และทำให้สแกนสลิปกลายเป็นเหตุผลที่ต้องจ่าย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956048"/>
            <a:ext cx="10908792" cy="1005840"/>
          </a:xfrm>
          <a:prstGeom prst="roundRect">
            <a:avLst>
              <a:gd name="adj" fmla="val 8182"/>
            </a:avLst>
          </a:prstGeom>
          <a:solidFill>
            <a:srgbClr val="10261A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5102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5394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สแกนครั้งแรก = ว้าว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5102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20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5394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สแกนครบ 20 — ตอนนี้ติดแล้ว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5320" y="5102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เดือนที่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5394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อยากดูย้อนหลัง + ส่งออก = จ่าย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ปรับฐานราคาก่อน แล้ว 40% ถึงจะเป็น 40% จริง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ตัดแผน 6 เดือนออก เหลือรายเดือนกับรายปี — ต้องแก้ให้เสร็จก่อนขึ้น production เพราะหลังมีสมาชิกแล้ว Google ห้ามขึ้นราคา base plan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9385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41648" y="19385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ราคาตั้ง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61888" y="1938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ราคาโปร Q4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65008" y="1938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ส่วนลด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10928" y="1938528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เท่ากับ/เดือน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9087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774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เดือน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41648" y="237744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฿99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61888" y="23774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฿79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65008" y="23774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10928" y="2377440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฿79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10908792" cy="603504"/>
          </a:xfrm>
          <a:prstGeom prst="rect">
            <a:avLst/>
          </a:prstGeom>
          <a:solidFill>
            <a:srgbClr val="EDF3EE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8094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เดือน  แนะนำ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41648" y="29809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฿1,188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61888" y="29809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฿713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65008" y="298094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10928" y="2980944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฿59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584448"/>
            <a:ext cx="109087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584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3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41648" y="35844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3F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฿1,990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61888" y="358444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ไม่ลด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065008" y="35844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3F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10928" y="3584448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3F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จ่ายครั้งเดียว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2377440"/>
            <a:ext cx="10908792" cy="0"/>
          </a:xfrm>
          <a:prstGeom prst="line">
            <a:avLst/>
          </a:prstGeom>
          <a:noFill/>
          <a:ln w="19050">
            <a:solidFill>
              <a:srgbClr val="1026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82896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6112" y="5029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บันไดราคาที่ผู้ใช้เห็น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5321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→ 79 → 59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96112" y="5779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ตัดแผน 6 เดือนทิ้ง เหลือคำถามเดียว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34256" y="4882896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90288" y="5029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Lifetime ทำหน้าที่ยึดราคา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0288" y="5321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3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฿1,990 = 2.8 ปี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90288" y="5779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เทียบราคาโปร 12 เดือน — ห้ามลด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28432" y="4882896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BF2E4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84464" y="5029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ต้องกดเปิด/ปิดด้วยมือ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84464" y="5321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ต.ค. → 31 ธ.ค.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284464" y="5779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5A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 ไม่มีวันสิ้นสุดในตัว — ลืมปิด = ขายยาวข้ามปี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มาร์จิ้น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ยิ่งแผนยาว ยิ่งคุ้มที่จะให้สมัครผ่านเว็บ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ไทยยังเสียค่าธรรมเนียม Play 15% ตลอด Q4 — อัตราใหม่ 10% ถึง Rest of World 30 ก.ย. 2027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6812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965960"/>
            <a:ext cx="3822192" cy="1078992"/>
          </a:xfrm>
          <a:prstGeom prst="roundRect">
            <a:avLst>
              <a:gd name="adj" fmla="val 7627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73568" y="20939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+฿70 ต่อคน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73568" y="24414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 12 เดือนผ่านเว็บให้สุทธิมากกว่า Play 11.5%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นี่คือเหตุผลเชิงเงินที่ควรลงทุนกับ SEO และคอนเทนต์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26680" y="3209544"/>
            <a:ext cx="3822192" cy="1078992"/>
          </a:xfrm>
          <a:prstGeom prst="roundRect">
            <a:avLst>
              <a:gd name="adj" fmla="val 7627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73568" y="33375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ห้ามลิงก์ออกจากแอป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73568" y="36850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ผิดนโยบาย Play เสี่ยงถูกถอดแอป — การเปิดให้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ลิงก์ภายนอกยังใช้ได้แค่ UK / EEA / US ยังไม่ถึงไทย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26680" y="4453128"/>
            <a:ext cx="3822192" cy="1078992"/>
          </a:xfrm>
          <a:prstGeom prst="roundRect">
            <a:avLst>
              <a:gd name="adj" fmla="val 7627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73568" y="458114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แยกช่องให้ขาด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973568" y="49286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คนที่มาจากเว็บสมัครบนเว็บ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คนที่มาจากแอปจ่ายผ่าน Play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การตลาด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หกช่องทาง งบประมาณศูนย์บาท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เรียงตามผลลัพธ์ต่อชั่วโมงที่ลงแรง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093976"/>
            <a:ext cx="420624" cy="42062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0574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26464" y="240487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ทำครั้งเดียว ได้ผลทุกวัน — เปลี่ยนชื่อแอปไปชู "สแกนสลิป"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ซึ่งเป็นคำที่ชนะได้ แทน "บันทึกรายรับรายจ่าย" ที่แพ้ 10 เจ้า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8745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8816" y="2093976"/>
            <a:ext cx="420624" cy="42062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77456" y="20574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77456" y="240487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ช่องเดียวที่คลิปเดียวเปลี่ยนทั้งไตรมาสได้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วันละ 1 คลิป 6 วัน/สัปดาห์ = 78 คลิป หมุน 4 สูตร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3557016"/>
            <a:ext cx="420624" cy="42062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35204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แนะนำเพื่อน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26464" y="386791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ต้นทุนจริงไม่ถึง 2 บาท/คน เทียบค่า install จากแอด 20–60 บาท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Pro ฟรี 1 เดือนทั้งสองฝ่าย ผ่าน RevenueCat ไม่เสียค่าธรรมเนียม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91072" y="333756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3557016"/>
            <a:ext cx="420624" cy="42062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77456" y="35204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+ Pantip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77456" y="386791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เจาะกลุ่มแม่ค้าและฟรีแลนซ์โดยตรง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กติกาเหล็ก: ตอบคำถามคนอื่น 10 ครั้ง ก่อนพูดถึงแอป 1 ครั้ง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5020056"/>
            <a:ext cx="420624" cy="42062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26464" y="49834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เว็บ + SEO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26464" y="53309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ผลช้าแต่มาร์จิ้นดีที่สุด — บทความไทย 8–10 ชิ้น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แจกไฟล์ Excel งบประมาณฟรีเพื่อเก็บอีเมล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91072" y="480060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28816" y="5020056"/>
            <a:ext cx="420624" cy="42062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77456" y="49834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ทดสอบ 2 ประเทศ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7456" y="533095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สิงคโปร์ใช้ listing อังกฤษเดิมได้เลย · เวียดนามต้องแปลทั้งชุด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ทำต่อเมื่องานฝั่งไทยนิ่งแล้วเท่านั้น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 90 วัน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ปลดล็อกก่อน เปิดเงียบ แล้วค่อยเร่ง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ห้ามยิงตรงเข้า production — ขึ้น open testing ทดสอบให้ผ่านก่อนเสมอ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048256" cy="420624"/>
          </a:xfrm>
          <a:prstGeom prst="roundRect">
            <a:avLst>
              <a:gd name="adj" fmla="val 13043"/>
            </a:avLst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0  ·  ปลดล็อก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 ส.ค. – 15 ก.ย.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2048256" cy="2148840"/>
          </a:xfrm>
          <a:prstGeom prst="roundRect">
            <a:avLst>
              <a:gd name="adj" fmla="val 401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80944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ลบบัญชีในแอป + หน้าเว็บ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RevenueCat คีย์จริง + service account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base plan ราคาใหม่ 10 ประเทศ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vc17 → ทดสอบซื้อจริง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71216" y="1965960"/>
            <a:ext cx="2048256" cy="420624"/>
          </a:xfrm>
          <a:prstGeom prst="roundRect">
            <a:avLst>
              <a:gd name="adj" fmla="val 13043"/>
            </a:avLst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19659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1  ·  เปิดเงียบ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71216" y="24688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– 30 ก.ย.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71216" y="2816352"/>
            <a:ext cx="2048256" cy="2148840"/>
          </a:xfrm>
          <a:prstGeom prst="roundRect">
            <a:avLst>
              <a:gd name="adj" fmla="val 401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54096" y="2980944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promote production rollout 20%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 100% + 10 ประเทศ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เก็บให้ได้ 20 รีวิวก่อน 1 ต.ค.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offer ไว้ แต่ยังไม่เปิด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02352" y="1965960"/>
            <a:ext cx="2048256" cy="420624"/>
          </a:xfrm>
          <a:prstGeom prst="roundRect">
            <a:avLst>
              <a:gd name="adj" fmla="val 13043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19659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2  ·  เปิดโปร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02352" y="24688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– 31 ต.ค.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02352" y="2816352"/>
            <a:ext cx="2048256" cy="2148840"/>
          </a:xfrm>
          <a:prstGeom prst="roundRect">
            <a:avLst>
              <a:gd name="adj" fmla="val 401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85232" y="2980944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offer 2 ตัว + แบนเนอร์นับถอยหลัง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TikTok วันละคลิป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 15 ต.ค. ดู conversion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33488" y="1965960"/>
            <a:ext cx="2048256" cy="420624"/>
          </a:xfrm>
          <a:prstGeom prst="roundRect">
            <a:avLst>
              <a:gd name="adj" fmla="val 13043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19659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3  ·  เก็บผู้ใช้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33488" y="24688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– 30 พ.ย.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3488" y="2816352"/>
            <a:ext cx="2048256" cy="2148840"/>
          </a:xfrm>
          <a:prstGeom prst="roundRect">
            <a:avLst>
              <a:gd name="adj" fmla="val 401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16368" y="2980944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เตือนบันทึกรายจ่าย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ระบบแนะนำเพื่อน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 50 รีวิว 4.5 ดาว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64624" y="1965960"/>
            <a:ext cx="2048256" cy="420624"/>
          </a:xfrm>
          <a:prstGeom prst="roundRect">
            <a:avLst>
              <a:gd name="adj" fmla="val 13043"/>
            </a:avLst>
          </a:prstGeom>
          <a:solidFill>
            <a:srgbClr val="5A3F8F"/>
          </a:solidFill>
          <a:ln w="12700">
            <a:solidFill>
              <a:srgbClr val="5A3F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64624" y="19659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4  ·  เร่งปิด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64624" y="24688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– 31 ธ.ค.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64624" y="2816352"/>
            <a:ext cx="2048256" cy="2148840"/>
          </a:xfrm>
          <a:prstGeom prst="roundRect">
            <a:avLst>
              <a:gd name="adj" fmla="val 4018"/>
            </a:avLst>
          </a:prstGeom>
          <a:solidFill>
            <a:srgbClr val="F2F4F1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47504" y="2980944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สื่อสาร "เดือนสุดท้าย"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ผูกกับปีใหม่ = เริ่มจดใหม่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 ธ.ค. ปิด offer ด้วยมือ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193792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FBF2E4"/>
          </a:solidFill>
          <a:ln w="9525">
            <a:solidFill>
              <a:srgbClr val="D8DE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5358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เตือน 2 ชั้น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743200" y="53949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ก.ย. 09:00 → เปิด offer ทั้ง 2 ตัว  ·  31 ธ.ค. 20:00 → ปิด offer ทั้ง 2 ตัว + ปิดแบนเนอร์ในแอป      ตั้งปฏิทินเดี๋ยวนี้ Play ไม่ปิดให้เอง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ด้วยงบ 0 บาท ของที่ได้จริงคือข้อมูล ไม่ใช่เงิน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กรวย: ติดตั้ง → เปิดใช้จริง 45% → คงอยู่ D7 35% → เห็น paywall 70% → ซื้อ 4% · ส่วนผสม: รายปี 55% รายเดือน 30% Lifetime 15%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57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รายได้สุทธิ ≈ ฿3,200  /  ฿9,400  /  ฿32,100 ตามลำดับ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29400" y="20116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ตัวชี้วัดที่ควรตั้งเป้าจริง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629400" y="2450592"/>
            <a:ext cx="4919472" cy="640080"/>
          </a:xfrm>
          <a:prstGeom prst="rect">
            <a:avLst/>
          </a:prstGeom>
          <a:solidFill>
            <a:srgbClr val="F2F4F1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เรตติ้ง Play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12280" y="2779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ตัวคูณของทุกช่องทาง ต่ำกว่า 4.0 คือ ASO ตาย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966960" y="24505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· รีวิว 50+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29400" y="3172968"/>
            <a:ext cx="49194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3227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Activation 24 ชม.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12280" y="3502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ถ้าต่ำ ปัญหาอยู่ที่ onboarding ไม่ใช่การตลาด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966960" y="31729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29400" y="3895344"/>
            <a:ext cx="4919472" cy="640080"/>
          </a:xfrm>
          <a:prstGeom prst="rect">
            <a:avLst/>
          </a:prstGeom>
          <a:solidFill>
            <a:srgbClr val="F2F4F1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D7 retention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1228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ต่ำกว่า 20% ห้ามยิงแอดเด็ดขาด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966960" y="389534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29400" y="4617720"/>
            <a:ext cx="49194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4672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Paywall → ซื้อ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12280" y="4946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ต่ำกว่า 2% ให้แก้ข้อความ ไม่ใช่ลดราคาเพิ่ม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966960" y="4617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29400" y="5340096"/>
            <a:ext cx="4919472" cy="640080"/>
          </a:xfrm>
          <a:prstGeom prst="rect">
            <a:avLst/>
          </a:prstGeom>
          <a:solidFill>
            <a:srgbClr val="F2F4F1"/>
          </a:solidFill>
          <a:ln w="6350">
            <a:solidFill>
              <a:srgbClr val="D8DE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เลือกแผน 12 เดือน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812280" y="5669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วัดว่าโปร 40% ได้ผลตามตั้งใจไหม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966960" y="534009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A3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 ของผู้ซื้อ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0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ต้องตัดสินใจ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สามเรื่องที่รอคำตอบ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ทุกข้อต้องเคาะภายในสิ้นเดือนสิงหาคม เพื่อให้ทันเปิด 1 ตุลาคม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316736"/>
          </a:xfrm>
          <a:prstGeom prst="roundRect">
            <a:avLst>
              <a:gd name="adj" fmla="val 6250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12848"/>
            <a:ext cx="512064" cy="51206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27632" y="21031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เปลี่ยนราคารายปีจาก ฿990 เป็น ฿1,188 ไหม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27632" y="246888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ถ้าเปลี่ยน — Play แสดง "ลด 40%" ได้จริง และมีที่ว่างให้ลดราคาโดยไม่ขาดทุน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ถ้าไม่เปลี่ยน — ลด 40% จะเหลือ ฿594/ปี ซึ่งถูกจนดูไม่น่าเชื่อถือ และปีที่ 2 เด้ง +67%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หน้าต่างนี้ปิดทันทีที่มีสมาชิกคนแรก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10908792" cy="1316736"/>
          </a:xfrm>
          <a:prstGeom prst="roundRect">
            <a:avLst>
              <a:gd name="adj" fmla="val 6250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694176"/>
            <a:ext cx="512064" cy="51206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94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27632" y="35844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ปีที่ 2 ให้ผู้ซื้อโปรจ่ายเท่าไร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27632" y="395020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ปล่อยเด้งกลับ ฿1,188 (+67%) = รายได้สูงสุด แต่ churn สูงและเสี่ยงรีวิว 1 ดาว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แนะนำ: ส่งข้อเสนอต่ออายุ ฿990 ก่อนครบรอบ 30 วัน — ต้องมีคนกดทำจริงตอน ต.ค. 2027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82896"/>
            <a:ext cx="10908792" cy="1316736"/>
          </a:xfrm>
          <a:prstGeom prst="roundRect">
            <a:avLst>
              <a:gd name="adj" fmla="val 6250"/>
            </a:avLst>
          </a:prstGeom>
          <a:solidFill>
            <a:srgbClr val="1C4630"/>
          </a:solidFill>
          <a:ln w="12700">
            <a:solidFill>
              <a:srgbClr val="2A5A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175504"/>
            <a:ext cx="512064" cy="512064"/>
          </a:xfrm>
          <a:prstGeom prst="ellipse">
            <a:avLst/>
          </a:prstGeom>
          <a:solidFill>
            <a:srgbClr val="7FB069"/>
          </a:solidFill>
          <a:ln w="12700">
            <a:solidFill>
              <a:srgbClr val="7FB0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75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27632" y="50657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ปรับ free tier ก่อนเปิดโปรไหม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27632" y="543153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 = สแกนสลิปกลายเป็นเหตุผลที่ต้องจ่าย และเลิกกั้นการสร้างนิสัย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FC2B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ไม่ปรับ = โปรโมชันจะวิ่งบนกรวยที่รั่วอยู่ วัดผลไม่ได้ว่าราคาหรือโปรดักเป็นปัญหา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A7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เอกสารประกอบ:  01 กลยุทธ์ + แผน 90 วัน  ·  02 สเปกงานเทคนิค  ·  03 ก๊อปปี้การตลาดพร้อมใช้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2026-08-17T06:30:35Z</dcterms:created>
  <dcterms:modified xsi:type="dcterms:W3CDTF">2026-08-17T06:30:35Z</dcterms:modified>
</cp:coreProperties>
</file>